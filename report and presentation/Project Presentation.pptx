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63" r:id="rId8"/>
    <p:sldId id="264" r:id="rId9"/>
    <p:sldId id="265" r:id="rId10"/>
    <p:sldId id="266" r:id="rId11"/>
    <p:sldId id="259" r:id="rId12"/>
    <p:sldId id="267" r:id="rId13"/>
    <p:sldId id="260" r:id="rId14"/>
    <p:sldId id="261" r:id="rId15"/>
    <p:sldId id="26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33FA6DBA-F1F8-4907-84A9-1E5D3F48CF7D}" type="datetimeFigureOut">
              <a:rPr lang="it-IT" smtClean="0"/>
              <a:t>19/12/2025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BC01CF3C-EA5B-4C59-BC44-87AA21EF76A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91247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A6DBA-F1F8-4907-84A9-1E5D3F48CF7D}" type="datetimeFigureOut">
              <a:rPr lang="it-IT" smtClean="0"/>
              <a:t>19/12/2025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1CF3C-EA5B-4C59-BC44-87AA21EF76A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32760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A6DBA-F1F8-4907-84A9-1E5D3F48CF7D}" type="datetimeFigureOut">
              <a:rPr lang="it-IT" smtClean="0"/>
              <a:t>19/12/2025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1CF3C-EA5B-4C59-BC44-87AA21EF76A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89472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A6DBA-F1F8-4907-84A9-1E5D3F48CF7D}" type="datetimeFigureOut">
              <a:rPr lang="it-IT" smtClean="0"/>
              <a:t>19/12/2025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1CF3C-EA5B-4C59-BC44-87AA21EF76A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3770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A6DBA-F1F8-4907-84A9-1E5D3F48CF7D}" type="datetimeFigureOut">
              <a:rPr lang="it-IT" smtClean="0"/>
              <a:t>19/12/2025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1CF3C-EA5B-4C59-BC44-87AA21EF76A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87930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A6DBA-F1F8-4907-84A9-1E5D3F48CF7D}" type="datetimeFigureOut">
              <a:rPr lang="it-IT" smtClean="0"/>
              <a:t>19/12/2025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1CF3C-EA5B-4C59-BC44-87AA21EF76A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26974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A6DBA-F1F8-4907-84A9-1E5D3F48CF7D}" type="datetimeFigureOut">
              <a:rPr lang="it-IT" smtClean="0"/>
              <a:t>19/12/2025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1CF3C-EA5B-4C59-BC44-87AA21EF76A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86671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A6DBA-F1F8-4907-84A9-1E5D3F48CF7D}" type="datetimeFigureOut">
              <a:rPr lang="it-IT" smtClean="0"/>
              <a:t>19/12/2025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1CF3C-EA5B-4C59-BC44-87AA21EF76A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55636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A6DBA-F1F8-4907-84A9-1E5D3F48CF7D}" type="datetimeFigureOut">
              <a:rPr lang="it-IT" smtClean="0"/>
              <a:t>19/12/2025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1CF3C-EA5B-4C59-BC44-87AA21EF76A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3569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A6DBA-F1F8-4907-84A9-1E5D3F48CF7D}" type="datetimeFigureOut">
              <a:rPr lang="it-IT" smtClean="0"/>
              <a:t>19/12/2025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1CF3C-EA5B-4C59-BC44-87AA21EF76A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7871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A6DBA-F1F8-4907-84A9-1E5D3F48CF7D}" type="datetimeFigureOut">
              <a:rPr lang="it-IT" smtClean="0"/>
              <a:t>19/12/2025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1CF3C-EA5B-4C59-BC44-87AA21EF76A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510665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A6DBA-F1F8-4907-84A9-1E5D3F48CF7D}" type="datetimeFigureOut">
              <a:rPr lang="it-IT" smtClean="0"/>
              <a:t>19/12/2025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1CF3C-EA5B-4C59-BC44-87AA21EF76A3}" type="slidenum">
              <a:rPr lang="it-IT" smtClean="0"/>
              <a:t>‹#›</a:t>
            </a:fld>
            <a:endParaRPr lang="it-IT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026883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A6DBA-F1F8-4907-84A9-1E5D3F48CF7D}" type="datetimeFigureOut">
              <a:rPr lang="it-IT" smtClean="0"/>
              <a:t>19/12/2025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1CF3C-EA5B-4C59-BC44-87AA21EF76A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9790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A6DBA-F1F8-4907-84A9-1E5D3F48CF7D}" type="datetimeFigureOut">
              <a:rPr lang="it-IT" smtClean="0"/>
              <a:t>19/12/2025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1CF3C-EA5B-4C59-BC44-87AA21EF76A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39846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A6DBA-F1F8-4907-84A9-1E5D3F48CF7D}" type="datetimeFigureOut">
              <a:rPr lang="it-IT" smtClean="0"/>
              <a:t>19/12/2025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1CF3C-EA5B-4C59-BC44-87AA21EF76A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16701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A6DBA-F1F8-4907-84A9-1E5D3F48CF7D}" type="datetimeFigureOut">
              <a:rPr lang="it-IT" smtClean="0"/>
              <a:t>19/12/2025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1CF3C-EA5B-4C59-BC44-87AA21EF76A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33954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A6DBA-F1F8-4907-84A9-1E5D3F48CF7D}" type="datetimeFigureOut">
              <a:rPr lang="it-IT" smtClean="0"/>
              <a:t>19/12/2025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1CF3C-EA5B-4C59-BC44-87AA21EF76A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32736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FA6DBA-F1F8-4907-84A9-1E5D3F48CF7D}" type="datetimeFigureOut">
              <a:rPr lang="it-IT" smtClean="0"/>
              <a:t>19/12/2025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1CF3C-EA5B-4C59-BC44-87AA21EF76A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57645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CD704A2F-7DB7-E9BE-A3E5-3387AAFB9294}"/>
              </a:ext>
            </a:extLst>
          </p:cNvPr>
          <p:cNvSpPr txBox="1"/>
          <p:nvPr/>
        </p:nvSpPr>
        <p:spPr>
          <a:xfrm>
            <a:off x="883920" y="1028343"/>
            <a:ext cx="1042416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6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House Price </a:t>
            </a:r>
            <a:r>
              <a:rPr lang="it-IT" sz="66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Prediction</a:t>
            </a:r>
            <a:r>
              <a:rPr lang="it-IT" sz="6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App</a:t>
            </a:r>
          </a:p>
          <a:p>
            <a:pPr algn="ctr"/>
            <a:endParaRPr lang="en-US" sz="4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4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Laboratorio di Informatica </a:t>
            </a:r>
            <a:r>
              <a:rPr lang="en-US" sz="44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Applicata</a:t>
            </a:r>
            <a:r>
              <a:rPr lang="en-US" sz="4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Final Project</a:t>
            </a:r>
          </a:p>
          <a:p>
            <a:pPr algn="ctr"/>
            <a:endParaRPr lang="it-IT" sz="5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it-IT" sz="5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Riommi Filippo – 13/01/2026</a:t>
            </a:r>
          </a:p>
        </p:txBody>
      </p:sp>
    </p:spTree>
    <p:extLst>
      <p:ext uri="{BB962C8B-B14F-4D97-AF65-F5344CB8AC3E}">
        <p14:creationId xmlns:p14="http://schemas.microsoft.com/office/powerpoint/2010/main" val="2045080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A09D0588-B30A-F5EB-7A06-21F37FAC19F5}"/>
              </a:ext>
            </a:extLst>
          </p:cNvPr>
          <p:cNvSpPr txBox="1"/>
          <p:nvPr/>
        </p:nvSpPr>
        <p:spPr>
          <a:xfrm>
            <a:off x="349857" y="270344"/>
            <a:ext cx="11465781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</a:t>
            </a:r>
            <a:r>
              <a:rPr lang="it-IT" sz="4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it-IT" sz="48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Objectives</a:t>
            </a:r>
            <a:endParaRPr lang="it-IT" sz="4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it-IT" sz="3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 house prices based on real training data taken from Kaggle Housing Prices Competition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Explore dataset information through an EDA page with statistics and plots.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 regression machine learning models interactively by choosing which features of the dataset and what regression model to use between four available.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 predictions using saved models by inserting values in model’s features.</a:t>
            </a:r>
          </a:p>
        </p:txBody>
      </p:sp>
    </p:spTree>
    <p:extLst>
      <p:ext uri="{BB962C8B-B14F-4D97-AF65-F5344CB8AC3E}">
        <p14:creationId xmlns:p14="http://schemas.microsoft.com/office/powerpoint/2010/main" val="2281451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3CE553CA-CDB7-8957-69B5-11C46B8DFBE8}"/>
              </a:ext>
            </a:extLst>
          </p:cNvPr>
          <p:cNvSpPr txBox="1"/>
          <p:nvPr/>
        </p:nvSpPr>
        <p:spPr>
          <a:xfrm>
            <a:off x="227937" y="190831"/>
            <a:ext cx="11736125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Analysis (EDA)</a:t>
            </a:r>
          </a:p>
          <a:p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79 features (plus an ID and the target variable), representing different aspects of a house.</a:t>
            </a:r>
          </a:p>
          <a:p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Price of houses (</a:t>
            </a:r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SalePrice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as the target variable.</a:t>
            </a:r>
            <a:endParaRPr lang="it-IT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53FE0B-2F4D-C70D-3623-0DF0909447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37" y="3176263"/>
            <a:ext cx="5816939" cy="349090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74E95A-0180-8C9F-3902-CC491CCD70B8}"/>
              </a:ext>
            </a:extLst>
          </p:cNvPr>
          <p:cNvSpPr txBox="1"/>
          <p:nvPr/>
        </p:nvSpPr>
        <p:spPr>
          <a:xfrm>
            <a:off x="6170212" y="3176263"/>
            <a:ext cx="588396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Gaussian trend with a mean value between 100000 and 200000.</a:t>
            </a:r>
          </a:p>
        </p:txBody>
      </p:sp>
    </p:spTree>
    <p:extLst>
      <p:ext uri="{BB962C8B-B14F-4D97-AF65-F5344CB8AC3E}">
        <p14:creationId xmlns:p14="http://schemas.microsoft.com/office/powerpoint/2010/main" val="424879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EA8ADA9F-99E3-4964-8962-1118D1439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66C3164-AA9F-47E3-913A-4F002BC0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3FFBAC2-26D2-48B6-B2AA-34AEA0E79E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4" name="Rectangle 5">
                <a:extLst>
                  <a:ext uri="{FF2B5EF4-FFF2-40B4-BE49-F238E27FC236}">
                    <a16:creationId xmlns:a16="http://schemas.microsoft.com/office/drawing/2014/main" id="{9B164BCB-27D3-4B8C-AC13-0A6F461082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6">
                <a:extLst>
                  <a:ext uri="{FF2B5EF4-FFF2-40B4-BE49-F238E27FC236}">
                    <a16:creationId xmlns:a16="http://schemas.microsoft.com/office/drawing/2014/main" id="{10B247BE-F4A2-4259-9B20-FB9A555D28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39322C5A-DB6D-4B28-8C1C-1B1E896789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67009B08-E345-4516-96EC-ED0AB1F30B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DFE2793C-165C-4635-A26E-C569C8E0C5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ECDFEF2C-7B0A-41A1-BB61-C92CB3E3A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0012A396-1946-4B40-AA39-0790157CE9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CD6C6024-F73D-4991-97B9-BE53FF24E3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5977EDD1-3D10-43FA-B800-7A7C8112B7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D37988CF-9FC6-48F5-82F8-D2EB0178A3B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EC5BB05B-491C-414A-91C3-B1CAB785A8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Line 16">
                <a:extLst>
                  <a:ext uri="{FF2B5EF4-FFF2-40B4-BE49-F238E27FC236}">
                    <a16:creationId xmlns:a16="http://schemas.microsoft.com/office/drawing/2014/main" id="{F3180CB6-F8D2-4596-B6CB-F9CEF5D389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DF338DD3-80F8-4F68-AC7C-361ABF2A9B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9666E4DB-B855-4A4E-BB50-1880738C11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F570FD9C-B435-4EF1-962C-621F1261AA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0">
                <a:extLst>
                  <a:ext uri="{FF2B5EF4-FFF2-40B4-BE49-F238E27FC236}">
                    <a16:creationId xmlns:a16="http://schemas.microsoft.com/office/drawing/2014/main" id="{E236AF0B-3BDC-43C3-8FFC-2A94121E94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Rectangle 21">
                <a:extLst>
                  <a:ext uri="{FF2B5EF4-FFF2-40B4-BE49-F238E27FC236}">
                    <a16:creationId xmlns:a16="http://schemas.microsoft.com/office/drawing/2014/main" id="{3BA2C208-5097-4497-AA2C-ADDDAB48B6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2">
                <a:extLst>
                  <a:ext uri="{FF2B5EF4-FFF2-40B4-BE49-F238E27FC236}">
                    <a16:creationId xmlns:a16="http://schemas.microsoft.com/office/drawing/2014/main" id="{6A45DD96-8D07-43CA-B036-6FDA880A17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3">
                <a:extLst>
                  <a:ext uri="{FF2B5EF4-FFF2-40B4-BE49-F238E27FC236}">
                    <a16:creationId xmlns:a16="http://schemas.microsoft.com/office/drawing/2014/main" id="{AF7F7CBB-E154-4CD5-9ED0-D5DDC1DFEA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4">
                <a:extLst>
                  <a:ext uri="{FF2B5EF4-FFF2-40B4-BE49-F238E27FC236}">
                    <a16:creationId xmlns:a16="http://schemas.microsoft.com/office/drawing/2014/main" id="{EFF4AB16-41DD-4877-8C28-ED78F4CA7F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5">
                <a:extLst>
                  <a:ext uri="{FF2B5EF4-FFF2-40B4-BE49-F238E27FC236}">
                    <a16:creationId xmlns:a16="http://schemas.microsoft.com/office/drawing/2014/main" id="{30BCBD5D-92EB-487E-B1D0-F9000D45D1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6">
                <a:extLst>
                  <a:ext uri="{FF2B5EF4-FFF2-40B4-BE49-F238E27FC236}">
                    <a16:creationId xmlns:a16="http://schemas.microsoft.com/office/drawing/2014/main" id="{DA07BDB8-9827-4EBF-9B99-6C503EA0BC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27">
                <a:extLst>
                  <a:ext uri="{FF2B5EF4-FFF2-40B4-BE49-F238E27FC236}">
                    <a16:creationId xmlns:a16="http://schemas.microsoft.com/office/drawing/2014/main" id="{7F41FB05-1B3F-450A-A1A7-8C8BD182A5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28">
                <a:extLst>
                  <a:ext uri="{FF2B5EF4-FFF2-40B4-BE49-F238E27FC236}">
                    <a16:creationId xmlns:a16="http://schemas.microsoft.com/office/drawing/2014/main" id="{0629E219-1F32-41C1-B921-05E4561179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Freeform 29">
                <a:extLst>
                  <a:ext uri="{FF2B5EF4-FFF2-40B4-BE49-F238E27FC236}">
                    <a16:creationId xmlns:a16="http://schemas.microsoft.com/office/drawing/2014/main" id="{8081FB28-486E-4C09-9D15-0B2657B56F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Freeform 30">
                <a:extLst>
                  <a:ext uri="{FF2B5EF4-FFF2-40B4-BE49-F238E27FC236}">
                    <a16:creationId xmlns:a16="http://schemas.microsoft.com/office/drawing/2014/main" id="{CB547EFB-F29D-4336-9644-0AE7A94EA4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Freeform 31">
                <a:extLst>
                  <a:ext uri="{FF2B5EF4-FFF2-40B4-BE49-F238E27FC236}">
                    <a16:creationId xmlns:a16="http://schemas.microsoft.com/office/drawing/2014/main" id="{BB2793F4-FAD7-459A-BC46-06BB1D4FAA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C01589C-0235-4B21-B264-777746D4D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4" name="Freeform 32">
                <a:extLst>
                  <a:ext uri="{FF2B5EF4-FFF2-40B4-BE49-F238E27FC236}">
                    <a16:creationId xmlns:a16="http://schemas.microsoft.com/office/drawing/2014/main" id="{678F5669-8CE7-445E-8D54-49C5E2013B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3">
                <a:extLst>
                  <a:ext uri="{FF2B5EF4-FFF2-40B4-BE49-F238E27FC236}">
                    <a16:creationId xmlns:a16="http://schemas.microsoft.com/office/drawing/2014/main" id="{E93A3F8E-D876-485E-9EDC-43E315DE1E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4">
                <a:extLst>
                  <a:ext uri="{FF2B5EF4-FFF2-40B4-BE49-F238E27FC236}">
                    <a16:creationId xmlns:a16="http://schemas.microsoft.com/office/drawing/2014/main" id="{B4F848A6-931A-4CC9-9B29-C7A9CEA3AC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5">
                <a:extLst>
                  <a:ext uri="{FF2B5EF4-FFF2-40B4-BE49-F238E27FC236}">
                    <a16:creationId xmlns:a16="http://schemas.microsoft.com/office/drawing/2014/main" id="{5C4204D4-6782-4DB1-8FF8-86CC698AF2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6">
                <a:extLst>
                  <a:ext uri="{FF2B5EF4-FFF2-40B4-BE49-F238E27FC236}">
                    <a16:creationId xmlns:a16="http://schemas.microsoft.com/office/drawing/2014/main" id="{3907C583-5764-43DC-8AF9-992D3472F6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37">
                <a:extLst>
                  <a:ext uri="{FF2B5EF4-FFF2-40B4-BE49-F238E27FC236}">
                    <a16:creationId xmlns:a16="http://schemas.microsoft.com/office/drawing/2014/main" id="{56CE3D6E-1121-4EF2-9DFB-7F3937FCCD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38">
                <a:extLst>
                  <a:ext uri="{FF2B5EF4-FFF2-40B4-BE49-F238E27FC236}">
                    <a16:creationId xmlns:a16="http://schemas.microsoft.com/office/drawing/2014/main" id="{3AEB7245-E197-4AE5-BCFC-7821E49EFE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39">
                <a:extLst>
                  <a:ext uri="{FF2B5EF4-FFF2-40B4-BE49-F238E27FC236}">
                    <a16:creationId xmlns:a16="http://schemas.microsoft.com/office/drawing/2014/main" id="{801E9C76-F4FB-4C4D-9350-B526F294E0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40">
                <a:extLst>
                  <a:ext uri="{FF2B5EF4-FFF2-40B4-BE49-F238E27FC236}">
                    <a16:creationId xmlns:a16="http://schemas.microsoft.com/office/drawing/2014/main" id="{F9C0C5DE-6C8C-4CD0-9C91-6A132A06DA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Rectangle 41">
                <a:extLst>
                  <a:ext uri="{FF2B5EF4-FFF2-40B4-BE49-F238E27FC236}">
                    <a16:creationId xmlns:a16="http://schemas.microsoft.com/office/drawing/2014/main" id="{955A7039-8B66-4CF0-8048-0AD0F4A5B85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pic>
        <p:nvPicPr>
          <p:cNvPr id="52" name="Picture 2">
            <a:extLst>
              <a:ext uri="{FF2B5EF4-FFF2-40B4-BE49-F238E27FC236}">
                <a16:creationId xmlns:a16="http://schemas.microsoft.com/office/drawing/2014/main" id="{43BCD4D4-0FCB-418E-9D58-033B2DB41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BC3E363D-4793-4E9B-88F5-58007346C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" name="Picture 2">
            <a:extLst>
              <a:ext uri="{FF2B5EF4-FFF2-40B4-BE49-F238E27FC236}">
                <a16:creationId xmlns:a16="http://schemas.microsoft.com/office/drawing/2014/main" id="{AA3F2319-3466-4D84-ABE4-77BC773F3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EC8239F-7F04-C03C-69CE-E1681A6528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545624"/>
              </p:ext>
            </p:extLst>
          </p:nvPr>
        </p:nvGraphicFramePr>
        <p:xfrm>
          <a:off x="212726" y="1103644"/>
          <a:ext cx="5835612" cy="54585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3663">
                  <a:extLst>
                    <a:ext uri="{9D8B030D-6E8A-4147-A177-3AD203B41FA5}">
                      <a16:colId xmlns:a16="http://schemas.microsoft.com/office/drawing/2014/main" val="1949892400"/>
                    </a:ext>
                  </a:extLst>
                </a:gridCol>
                <a:gridCol w="1639752">
                  <a:extLst>
                    <a:ext uri="{9D8B030D-6E8A-4147-A177-3AD203B41FA5}">
                      <a16:colId xmlns:a16="http://schemas.microsoft.com/office/drawing/2014/main" val="2081957919"/>
                    </a:ext>
                  </a:extLst>
                </a:gridCol>
                <a:gridCol w="2052197">
                  <a:extLst>
                    <a:ext uri="{9D8B030D-6E8A-4147-A177-3AD203B41FA5}">
                      <a16:colId xmlns:a16="http://schemas.microsoft.com/office/drawing/2014/main" val="172706400"/>
                    </a:ext>
                  </a:extLst>
                </a:gridCol>
              </a:tblGrid>
              <a:tr h="27292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Features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NA Count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NA Percentage (%)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extLst>
                  <a:ext uri="{0D108BD9-81ED-4DB2-BD59-A6C34878D82A}">
                    <a16:rowId xmlns:a16="http://schemas.microsoft.com/office/drawing/2014/main" val="773690729"/>
                  </a:ext>
                </a:extLst>
              </a:tr>
              <a:tr h="2729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Pool Quality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1453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99,5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extLst>
                  <a:ext uri="{0D108BD9-81ED-4DB2-BD59-A6C34878D82A}">
                    <a16:rowId xmlns:a16="http://schemas.microsoft.com/office/drawing/2014/main" val="429952178"/>
                  </a:ext>
                </a:extLst>
              </a:tr>
              <a:tr h="2729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Other Structures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1406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96,3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extLst>
                  <a:ext uri="{0D108BD9-81ED-4DB2-BD59-A6C34878D82A}">
                    <a16:rowId xmlns:a16="http://schemas.microsoft.com/office/drawing/2014/main" val="728104653"/>
                  </a:ext>
                </a:extLst>
              </a:tr>
              <a:tr h="2729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Alley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1369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93,8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extLst>
                  <a:ext uri="{0D108BD9-81ED-4DB2-BD59-A6C34878D82A}">
                    <a16:rowId xmlns:a16="http://schemas.microsoft.com/office/drawing/2014/main" val="3258451810"/>
                  </a:ext>
                </a:extLst>
              </a:tr>
              <a:tr h="2729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Fence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1179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80,8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extLst>
                  <a:ext uri="{0D108BD9-81ED-4DB2-BD59-A6C34878D82A}">
                    <a16:rowId xmlns:a16="http://schemas.microsoft.com/office/drawing/2014/main" val="216505684"/>
                  </a:ext>
                </a:extLst>
              </a:tr>
              <a:tr h="2729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Masonry Type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872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59,7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extLst>
                  <a:ext uri="{0D108BD9-81ED-4DB2-BD59-A6C34878D82A}">
                    <a16:rowId xmlns:a16="http://schemas.microsoft.com/office/drawing/2014/main" val="3641599512"/>
                  </a:ext>
                </a:extLst>
              </a:tr>
              <a:tr h="2729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Fireplace Quality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690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47,2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extLst>
                  <a:ext uri="{0D108BD9-81ED-4DB2-BD59-A6C34878D82A}">
                    <a16:rowId xmlns:a16="http://schemas.microsoft.com/office/drawing/2014/main" val="260967026"/>
                  </a:ext>
                </a:extLst>
              </a:tr>
              <a:tr h="2729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Lot Frontage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259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17,7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extLst>
                  <a:ext uri="{0D108BD9-81ED-4DB2-BD59-A6C34878D82A}">
                    <a16:rowId xmlns:a16="http://schemas.microsoft.com/office/drawing/2014/main" val="138380988"/>
                  </a:ext>
                </a:extLst>
              </a:tr>
              <a:tr h="2729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Garage Type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81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5,5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extLst>
                  <a:ext uri="{0D108BD9-81ED-4DB2-BD59-A6C34878D82A}">
                    <a16:rowId xmlns:a16="http://schemas.microsoft.com/office/drawing/2014/main" val="4272521709"/>
                  </a:ext>
                </a:extLst>
              </a:tr>
              <a:tr h="2729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Garage Construction Year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81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5,5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extLst>
                  <a:ext uri="{0D108BD9-81ED-4DB2-BD59-A6C34878D82A}">
                    <a16:rowId xmlns:a16="http://schemas.microsoft.com/office/drawing/2014/main" val="2945644973"/>
                  </a:ext>
                </a:extLst>
              </a:tr>
              <a:tr h="2729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Finished Garage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81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5,5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extLst>
                  <a:ext uri="{0D108BD9-81ED-4DB2-BD59-A6C34878D82A}">
                    <a16:rowId xmlns:a16="http://schemas.microsoft.com/office/drawing/2014/main" val="1075635286"/>
                  </a:ext>
                </a:extLst>
              </a:tr>
              <a:tr h="2729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Garage Quality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81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5,5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extLst>
                  <a:ext uri="{0D108BD9-81ED-4DB2-BD59-A6C34878D82A}">
                    <a16:rowId xmlns:a16="http://schemas.microsoft.com/office/drawing/2014/main" val="1612632785"/>
                  </a:ext>
                </a:extLst>
              </a:tr>
              <a:tr h="2729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Garage Condition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81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5,5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extLst>
                  <a:ext uri="{0D108BD9-81ED-4DB2-BD59-A6C34878D82A}">
                    <a16:rowId xmlns:a16="http://schemas.microsoft.com/office/drawing/2014/main" val="1142267564"/>
                  </a:ext>
                </a:extLst>
              </a:tr>
              <a:tr h="2729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Basement Exposure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38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2,6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extLst>
                  <a:ext uri="{0D108BD9-81ED-4DB2-BD59-A6C34878D82A}">
                    <a16:rowId xmlns:a16="http://schemas.microsoft.com/office/drawing/2014/main" val="2175952166"/>
                  </a:ext>
                </a:extLst>
              </a:tr>
              <a:tr h="2729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Second Basement Type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38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2,6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extLst>
                  <a:ext uri="{0D108BD9-81ED-4DB2-BD59-A6C34878D82A}">
                    <a16:rowId xmlns:a16="http://schemas.microsoft.com/office/drawing/2014/main" val="3965328411"/>
                  </a:ext>
                </a:extLst>
              </a:tr>
              <a:tr h="2729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Basement Quality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37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2,5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extLst>
                  <a:ext uri="{0D108BD9-81ED-4DB2-BD59-A6C34878D82A}">
                    <a16:rowId xmlns:a16="http://schemas.microsoft.com/office/drawing/2014/main" val="1084007095"/>
                  </a:ext>
                </a:extLst>
              </a:tr>
              <a:tr h="2729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Basement Condition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37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2,5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extLst>
                  <a:ext uri="{0D108BD9-81ED-4DB2-BD59-A6C34878D82A}">
                    <a16:rowId xmlns:a16="http://schemas.microsoft.com/office/drawing/2014/main" val="3578388442"/>
                  </a:ext>
                </a:extLst>
              </a:tr>
              <a:tr h="2729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First Basement Type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37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2,5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extLst>
                  <a:ext uri="{0D108BD9-81ED-4DB2-BD59-A6C34878D82A}">
                    <a16:rowId xmlns:a16="http://schemas.microsoft.com/office/drawing/2014/main" val="2943236898"/>
                  </a:ext>
                </a:extLst>
              </a:tr>
              <a:tr h="2729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Masonry Area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8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0,5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extLst>
                  <a:ext uri="{0D108BD9-81ED-4DB2-BD59-A6C34878D82A}">
                    <a16:rowId xmlns:a16="http://schemas.microsoft.com/office/drawing/2014/main" val="892487368"/>
                  </a:ext>
                </a:extLst>
              </a:tr>
              <a:tr h="2729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Electrical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1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0,07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93" marR="74893" marT="0" marB="0"/>
                </a:tc>
                <a:extLst>
                  <a:ext uri="{0D108BD9-81ED-4DB2-BD59-A6C34878D82A}">
                    <a16:rowId xmlns:a16="http://schemas.microsoft.com/office/drawing/2014/main" val="2967599689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F92DED4E-340E-19BB-0CC1-3E7B932B88B2}"/>
              </a:ext>
            </a:extLst>
          </p:cNvPr>
          <p:cNvSpPr txBox="1"/>
          <p:nvPr/>
        </p:nvSpPr>
        <p:spPr>
          <a:xfrm>
            <a:off x="227937" y="190831"/>
            <a:ext cx="1173612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Values</a:t>
            </a:r>
          </a:p>
          <a:p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EE740A-1F5E-654B-5D47-8ACE3C0DD4FE}"/>
              </a:ext>
            </a:extLst>
          </p:cNvPr>
          <p:cNvSpPr txBox="1"/>
          <p:nvPr/>
        </p:nvSpPr>
        <p:spPr>
          <a:xfrm>
            <a:off x="6260893" y="465889"/>
            <a:ext cx="5734257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of NA values refer to the absence of the features.</a:t>
            </a:r>
          </a:p>
          <a:p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houses have not expensive structures.</a:t>
            </a:r>
          </a:p>
          <a:p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of these are categorical features, with the only exceptions of Lot Frontage, Masonry Area and Garage Construction Year.</a:t>
            </a:r>
          </a:p>
          <a:p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Lot Frontage  is a feature every house surely have, so NA values mean lack of information.</a:t>
            </a:r>
          </a:p>
        </p:txBody>
      </p:sp>
    </p:spTree>
    <p:extLst>
      <p:ext uri="{BB962C8B-B14F-4D97-AF65-F5344CB8AC3E}">
        <p14:creationId xmlns:p14="http://schemas.microsoft.com/office/powerpoint/2010/main" val="2471098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4">
            <a:extLst>
              <a:ext uri="{FF2B5EF4-FFF2-40B4-BE49-F238E27FC236}">
                <a16:creationId xmlns:a16="http://schemas.microsoft.com/office/drawing/2014/main" id="{4DF55FC0-5185-9E27-176C-11AFD8390678}"/>
              </a:ext>
            </a:extLst>
          </p:cNvPr>
          <p:cNvSpPr txBox="1"/>
          <p:nvPr/>
        </p:nvSpPr>
        <p:spPr>
          <a:xfrm>
            <a:off x="227937" y="190831"/>
            <a:ext cx="1173612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Derived Features and Correlations</a:t>
            </a:r>
          </a:p>
          <a:p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08C35F-D850-D2BE-4B4E-67C5E602F3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36" y="1170043"/>
            <a:ext cx="6484603" cy="540568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FA1E40-ED40-B386-5B69-6002093E6190}"/>
              </a:ext>
            </a:extLst>
          </p:cNvPr>
          <p:cNvSpPr txBox="1"/>
          <p:nvPr/>
        </p:nvSpPr>
        <p:spPr>
          <a:xfrm>
            <a:off x="6795208" y="949008"/>
            <a:ext cx="5086184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correlation for derived features.</a:t>
            </a:r>
          </a:p>
          <a:p>
            <a:endParaRPr lang="en-US" sz="2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Numeric features highest correlations:</a:t>
            </a:r>
          </a:p>
          <a:p>
            <a:pPr lvl="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Quality</a:t>
            </a:r>
          </a:p>
          <a:p>
            <a:pPr lvl="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Living Area</a:t>
            </a:r>
          </a:p>
          <a:p>
            <a:pPr lvl="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Garage Area</a:t>
            </a:r>
          </a:p>
          <a:p>
            <a:pPr lvl="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Basement Area</a:t>
            </a:r>
          </a:p>
          <a:p>
            <a:pPr lvl="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 Built</a:t>
            </a:r>
          </a:p>
          <a:p>
            <a:pPr lvl="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 of Full Baths</a:t>
            </a:r>
          </a:p>
          <a:p>
            <a:endParaRPr lang="en-US" sz="2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Categorical features highest correlations:</a:t>
            </a:r>
          </a:p>
          <a:p>
            <a:pPr lvl="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Neighborhood</a:t>
            </a:r>
          </a:p>
          <a:p>
            <a:pPr lvl="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Exterior Quality</a:t>
            </a:r>
          </a:p>
          <a:p>
            <a:pPr lvl="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Kitchen Quality</a:t>
            </a:r>
          </a:p>
          <a:p>
            <a:pPr lvl="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Basement Quality</a:t>
            </a:r>
          </a:p>
          <a:p>
            <a:pPr lvl="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 Condition</a:t>
            </a:r>
          </a:p>
          <a:p>
            <a:pPr lvl="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House Style</a:t>
            </a:r>
          </a:p>
        </p:txBody>
      </p:sp>
    </p:spTree>
    <p:extLst>
      <p:ext uri="{BB962C8B-B14F-4D97-AF65-F5344CB8AC3E}">
        <p14:creationId xmlns:p14="http://schemas.microsoft.com/office/powerpoint/2010/main" val="2153613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4">
            <a:extLst>
              <a:ext uri="{FF2B5EF4-FFF2-40B4-BE49-F238E27FC236}">
                <a16:creationId xmlns:a16="http://schemas.microsoft.com/office/drawing/2014/main" id="{9CEA3F04-2200-64A6-06CE-CA1D5F28D36F}"/>
              </a:ext>
            </a:extLst>
          </p:cNvPr>
          <p:cNvSpPr txBox="1"/>
          <p:nvPr/>
        </p:nvSpPr>
        <p:spPr>
          <a:xfrm>
            <a:off x="227937" y="190831"/>
            <a:ext cx="1173612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Plots</a:t>
            </a:r>
          </a:p>
          <a:p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B35E5E-52C4-4928-75C4-66AC8C353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947" y="190831"/>
            <a:ext cx="5027369" cy="3016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B65597-8BFB-649F-F775-8F4FF2F4A7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3405" y="190831"/>
            <a:ext cx="5113340" cy="3411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CA47AB-A2A7-CF77-1532-821696623B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4" y="3429000"/>
            <a:ext cx="4874369" cy="3250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C7A255-B46F-1BCF-5B0E-C1D99A9395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9530" y="3746333"/>
            <a:ext cx="4874369" cy="29244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02356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4">
            <a:extLst>
              <a:ext uri="{FF2B5EF4-FFF2-40B4-BE49-F238E27FC236}">
                <a16:creationId xmlns:a16="http://schemas.microsoft.com/office/drawing/2014/main" id="{38178B44-DE43-3461-669F-16B4A2DE4E1A}"/>
              </a:ext>
            </a:extLst>
          </p:cNvPr>
          <p:cNvSpPr txBox="1"/>
          <p:nvPr/>
        </p:nvSpPr>
        <p:spPr>
          <a:xfrm>
            <a:off x="227937" y="190831"/>
            <a:ext cx="11736125" cy="7771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</a:t>
            </a:r>
          </a:p>
          <a:p>
            <a:pPr lvl="0"/>
            <a:r>
              <a:rPr lang="en-US" sz="2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Structures like pool, fence or similar (although rare) tend to increase the price more than basic structures like garage or basement.</a:t>
            </a:r>
          </a:p>
          <a:p>
            <a:pPr lvl="0"/>
            <a:endParaRPr lang="en-US" sz="25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2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Quality is a bit more important than size: although dimensions are, of course, a relevant parameter to increase the price, the quality of amenities and the general quality has a slightly stronger impact on it.</a:t>
            </a:r>
          </a:p>
          <a:p>
            <a:pPr lvl="0"/>
            <a:endParaRPr lang="en-US" sz="25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2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Neighborhood is a strong indicator (but not absolute) of whether a house will have a high price or not (as expected).</a:t>
            </a:r>
          </a:p>
          <a:p>
            <a:pPr lvl="0"/>
            <a:endParaRPr lang="en-US" sz="25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2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 are some special sale conditions that pose themselves as exceptions; for example, big houses sold still unfinished have a low price compared to their sheer dimensions. Houses sold under normal conditions tend to have higher prices.</a:t>
            </a:r>
          </a:p>
          <a:p>
            <a:pPr lvl="0"/>
            <a:endParaRPr lang="en-US" sz="25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2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Other outliers are big yet poor-quality houses.</a:t>
            </a:r>
          </a:p>
          <a:p>
            <a:endParaRPr lang="it-IT" sz="4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458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4">
            <a:extLst>
              <a:ext uri="{FF2B5EF4-FFF2-40B4-BE49-F238E27FC236}">
                <a16:creationId xmlns:a16="http://schemas.microsoft.com/office/drawing/2014/main" id="{B2ABC86D-6026-099C-1A08-058BCF198F69}"/>
              </a:ext>
            </a:extLst>
          </p:cNvPr>
          <p:cNvSpPr txBox="1"/>
          <p:nvPr/>
        </p:nvSpPr>
        <p:spPr>
          <a:xfrm>
            <a:off x="227937" y="190831"/>
            <a:ext cx="11736125" cy="6647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Machine Learning Methodology</a:t>
            </a:r>
          </a:p>
          <a:p>
            <a:r>
              <a:rPr lang="en-US" sz="27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Four different regression models to do the training: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7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Linear Regressor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7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Gradient Descent Regressor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7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 Forest Regressor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7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Gradient Boosting Regressor</a:t>
            </a:r>
          </a:p>
          <a:p>
            <a:endParaRPr lang="it-IT" sz="27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7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split into a training set (80) and a test set (20).</a:t>
            </a:r>
          </a:p>
          <a:p>
            <a:endParaRPr lang="en-US" sz="27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7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Preprocessing applied through a “Pipeline” object.</a:t>
            </a:r>
          </a:p>
          <a:p>
            <a:r>
              <a:rPr lang="en-US" sz="27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Preprocessing to NA values the same seen in EDA section.</a:t>
            </a:r>
          </a:p>
          <a:p>
            <a:endParaRPr lang="en-US" sz="27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7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Scaling and encoding for numeric and categorical features.</a:t>
            </a:r>
          </a:p>
          <a:p>
            <a:endParaRPr lang="en-US" sz="27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7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RMSE and R^2 as evaluation metrics.</a:t>
            </a:r>
            <a:endParaRPr lang="it-IT" sz="27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558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4">
            <a:extLst>
              <a:ext uri="{FF2B5EF4-FFF2-40B4-BE49-F238E27FC236}">
                <a16:creationId xmlns:a16="http://schemas.microsoft.com/office/drawing/2014/main" id="{82C85A3B-E65A-50DE-DA08-B505DE89C03D}"/>
              </a:ext>
            </a:extLst>
          </p:cNvPr>
          <p:cNvSpPr txBox="1"/>
          <p:nvPr/>
        </p:nvSpPr>
        <p:spPr>
          <a:xfrm>
            <a:off x="227937" y="190831"/>
            <a:ext cx="117361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Machine Learning Results</a:t>
            </a:r>
          </a:p>
          <a:p>
            <a:endParaRPr lang="it-IT" sz="4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BCBECD-72FA-A88E-586F-8D381C2373E6}"/>
              </a:ext>
            </a:extLst>
          </p:cNvPr>
          <p:cNvSpPr txBox="1"/>
          <p:nvPr/>
        </p:nvSpPr>
        <p:spPr>
          <a:xfrm>
            <a:off x="166977" y="1025718"/>
            <a:ext cx="5637475" cy="5678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Linear Regressor with all features:</a:t>
            </a:r>
          </a:p>
          <a:p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RMSE: 65277.26</a:t>
            </a:r>
          </a:p>
          <a:p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R^2: 0.44</a:t>
            </a:r>
          </a:p>
          <a:p>
            <a:endParaRPr lang="en-US" sz="23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Linear Regressor with h-c features:</a:t>
            </a:r>
          </a:p>
          <a:p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RMSE: 32987.23</a:t>
            </a:r>
          </a:p>
          <a:p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R^2: 0.85</a:t>
            </a:r>
          </a:p>
          <a:p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pPr lvl="0"/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Gradient Descent Regressor with all features:</a:t>
            </a:r>
          </a:p>
          <a:p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RMSE: 30878.29</a:t>
            </a:r>
          </a:p>
          <a:p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R^2: 0.87</a:t>
            </a:r>
          </a:p>
          <a:p>
            <a:endParaRPr lang="en-US" sz="23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Gradient Descent Regressor with h-c features:</a:t>
            </a:r>
          </a:p>
          <a:p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RMSE: 32702.34</a:t>
            </a:r>
          </a:p>
          <a:p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R^2: 0.86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020242-47AC-4854-998F-552791B37D1D}"/>
              </a:ext>
            </a:extLst>
          </p:cNvPr>
          <p:cNvSpPr txBox="1"/>
          <p:nvPr/>
        </p:nvSpPr>
        <p:spPr>
          <a:xfrm>
            <a:off x="6095999" y="1025718"/>
            <a:ext cx="5754093" cy="5678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 Forest Regressor with all features:</a:t>
            </a:r>
          </a:p>
          <a:p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RMSE: 28855.86</a:t>
            </a:r>
          </a:p>
          <a:p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R^2: 0.89</a:t>
            </a:r>
          </a:p>
          <a:p>
            <a:endParaRPr lang="en-US" sz="23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 Forest Regressor with h-c features:</a:t>
            </a:r>
          </a:p>
          <a:p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RMSE: 30695.02</a:t>
            </a:r>
          </a:p>
          <a:p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R^2: 0.87</a:t>
            </a:r>
          </a:p>
          <a:p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pPr lvl="0"/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Gradient Boosting Regressor with all features:</a:t>
            </a:r>
          </a:p>
          <a:p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RMSE: 28204.30</a:t>
            </a:r>
          </a:p>
          <a:p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R^2: 0.89</a:t>
            </a:r>
          </a:p>
          <a:p>
            <a:endParaRPr lang="en-US" sz="23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Gradient Boosting Regressor with h-c features:</a:t>
            </a:r>
          </a:p>
          <a:p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RMSE: 26757.47</a:t>
            </a:r>
          </a:p>
          <a:p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R^2: 0.90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388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4">
            <a:extLst>
              <a:ext uri="{FF2B5EF4-FFF2-40B4-BE49-F238E27FC236}">
                <a16:creationId xmlns:a16="http://schemas.microsoft.com/office/drawing/2014/main" id="{06CF4530-3DC0-5836-BA74-26FBF747A82B}"/>
              </a:ext>
            </a:extLst>
          </p:cNvPr>
          <p:cNvSpPr txBox="1"/>
          <p:nvPr/>
        </p:nvSpPr>
        <p:spPr>
          <a:xfrm>
            <a:off x="227937" y="190831"/>
            <a:ext cx="11736125" cy="7386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Implementation</a:t>
            </a:r>
          </a:p>
          <a:p>
            <a:r>
              <a:rPr lang="en-US" sz="2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 html pages, each provided with a CSS stylesheet</a:t>
            </a:r>
            <a:r>
              <a:rPr lang="it-IT" sz="2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it-IT" sz="2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 file to collect input data and send them to the server through AJAX messages.</a:t>
            </a:r>
          </a:p>
          <a:p>
            <a:endParaRPr lang="en-US" sz="2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 server structure realized using Flask as server.</a:t>
            </a:r>
          </a:p>
          <a:p>
            <a:endParaRPr lang="en-US" sz="2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EDA done with libraries such as Pandas, NumPy, Matplotlib and Seaborn; ML via Scikit-learn library.</a:t>
            </a:r>
          </a:p>
          <a:p>
            <a:endParaRPr lang="en-US" sz="2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stored in a CSV file.</a:t>
            </a:r>
          </a:p>
          <a:p>
            <a:endParaRPr lang="en-US" sz="2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Models saved as ‘.</a:t>
            </a:r>
            <a:r>
              <a:rPr lang="en-US" sz="21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pkl</a:t>
            </a:r>
            <a:r>
              <a:rPr lang="en-US" sz="2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 files.</a:t>
            </a:r>
          </a:p>
          <a:p>
            <a:endParaRPr lang="en-US" sz="2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Models’ metadata in the ‘</a:t>
            </a:r>
            <a:r>
              <a:rPr lang="en-US" sz="21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models.json</a:t>
            </a:r>
            <a:r>
              <a:rPr lang="en-US" sz="2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 file.</a:t>
            </a:r>
          </a:p>
          <a:p>
            <a:endParaRPr lang="en-US" sz="2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1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Dockerfile</a:t>
            </a:r>
            <a:r>
              <a:rPr lang="en-US" sz="2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install all requirement and create the container.</a:t>
            </a:r>
          </a:p>
          <a:p>
            <a:endParaRPr lang="en-US" sz="2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Docker-compose to launch and search for the first free port (starting from the port 5000) to run the application on.</a:t>
            </a:r>
          </a:p>
          <a:p>
            <a:endParaRPr lang="it-IT" sz="4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5894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EF3D0F37-B124-F283-9CDE-DECCE7795CEC}"/>
              </a:ext>
            </a:extLst>
          </p:cNvPr>
          <p:cNvSpPr txBox="1"/>
          <p:nvPr/>
        </p:nvSpPr>
        <p:spPr>
          <a:xfrm>
            <a:off x="310101" y="310101"/>
            <a:ext cx="11529391" cy="7048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 Encountered and Solutions</a:t>
            </a:r>
          </a:p>
          <a:p>
            <a:pPr lvl="0"/>
            <a:endParaRPr lang="en-US" dirty="0"/>
          </a:p>
          <a:p>
            <a:pPr lvl="0"/>
            <a:r>
              <a:rPr lang="en-US" sz="2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Applying multiple preprocessing actions to data before training and predicting maintaining consistency -&gt; Resolved using Pipelines to automate the preprocessing.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2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Saving trained model to use them later for predictions -&gt; Resolved using </a:t>
            </a:r>
            <a:r>
              <a:rPr lang="en-US" sz="2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Joblib</a:t>
            </a:r>
            <a:r>
              <a:rPr lang="en-US" sz="2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serialize the model in ‘.</a:t>
            </a:r>
            <a:r>
              <a:rPr lang="en-US" sz="2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pkl</a:t>
            </a:r>
            <a:r>
              <a:rPr lang="en-US" sz="2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 files and load it on need; also, saving model metadata in a Json file.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2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Handling docker exposed port in case a fixed port is occupied -&gt; Resolved using dynamic port selection in docker-compose file.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2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Applying preprocessing to dataset rows with NA values -&gt; Resolved studying the nature of NA values for each feature using documentation and filling them consequently.</a:t>
            </a:r>
          </a:p>
          <a:p>
            <a:endParaRPr lang="it-IT" sz="4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0484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CC3F106-1339-EDE4-539F-F7B0D4E60576}"/>
              </a:ext>
            </a:extLst>
          </p:cNvPr>
          <p:cNvSpPr txBox="1"/>
          <p:nvPr/>
        </p:nvSpPr>
        <p:spPr>
          <a:xfrm>
            <a:off x="310101" y="302150"/>
            <a:ext cx="11537342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Possible Future Improvements</a:t>
            </a:r>
          </a:p>
          <a:p>
            <a:endParaRPr lang="it-IT" sz="4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3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new regression models to further extend user possibilities.</a:t>
            </a:r>
          </a:p>
          <a:p>
            <a:pPr lvl="0"/>
            <a:endParaRPr lang="en-US" sz="3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3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dataset selection on training page to allow users to train models based on different datasets.</a:t>
            </a:r>
          </a:p>
          <a:p>
            <a:pPr lvl="0"/>
            <a:endParaRPr lang="en-US" sz="3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3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CSV file input to perform multiple predictions at once.</a:t>
            </a:r>
          </a:p>
          <a:p>
            <a:pPr lvl="0"/>
            <a:endParaRPr lang="en-US" sz="3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3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user authentication to save different models for different users.</a:t>
            </a:r>
          </a:p>
          <a:p>
            <a:endParaRPr lang="it-IT" sz="4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3149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672764054DCD4994E7B0C5E41CE02B" ma:contentTypeVersion="12" ma:contentTypeDescription="Create a new document." ma:contentTypeScope="" ma:versionID="5b4779eae77262b112b13a3ea95943de">
  <xsd:schema xmlns:xsd="http://www.w3.org/2001/XMLSchema" xmlns:xs="http://www.w3.org/2001/XMLSchema" xmlns:p="http://schemas.microsoft.com/office/2006/metadata/properties" xmlns:ns2="660d841a-8d5c-4365-b91a-9e058a7d7b0b" xmlns:ns3="0b33555f-4003-4a3d-98b3-b6089c9272f3" targetNamespace="http://schemas.microsoft.com/office/2006/metadata/properties" ma:root="true" ma:fieldsID="522d260bba7bd3354367955d960a7735" ns2:_="" ns3:_="">
    <xsd:import namespace="660d841a-8d5c-4365-b91a-9e058a7d7b0b"/>
    <xsd:import namespace="0b33555f-4003-4a3d-98b3-b6089c9272f3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0d841a-8d5c-4365-b91a-9e058a7d7b0b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lcf76f155ced4ddcb4097134ff3c332f" ma:index="10" nillable="true" ma:taxonomy="true" ma:internalName="lcf76f155ced4ddcb4097134ff3c332f" ma:taxonomyFieldName="MediaServiceImageTags" ma:displayName="Image Tags" ma:readOnly="false" ma:fieldId="{5cf76f15-5ced-4ddc-b409-7134ff3c332f}" ma:taxonomyMulti="true" ma:sspId="4916a575-a2c4-47fb-bb3c-b06084ed581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33555f-4003-4a3d-98b3-b6089c9272f3" elementFormDefault="qualified">
    <xsd:import namespace="http://schemas.microsoft.com/office/2006/documentManagement/types"/>
    <xsd:import namespace="http://schemas.microsoft.com/office/infopath/2007/PartnerControls"/>
    <xsd:element name="TaxCatchAll" ma:index="11" nillable="true" ma:displayName="Taxonomy Catch All Column" ma:hidden="true" ma:list="{170ee666-3529-46c7-ba88-e1fcb73c15be}" ma:internalName="TaxCatchAll" ma:showField="CatchAllData" ma:web="0b33555f-4003-4a3d-98b3-b6089c9272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660d841a-8d5c-4365-b91a-9e058a7d7b0b" xsi:nil="true"/>
    <lcf76f155ced4ddcb4097134ff3c332f xmlns="660d841a-8d5c-4365-b91a-9e058a7d7b0b">
      <Terms xmlns="http://schemas.microsoft.com/office/infopath/2007/PartnerControls"/>
    </lcf76f155ced4ddcb4097134ff3c332f>
    <TaxCatchAll xmlns="0b33555f-4003-4a3d-98b3-b6089c9272f3" xsi:nil="true"/>
  </documentManagement>
</p:properties>
</file>

<file path=customXml/itemProps1.xml><?xml version="1.0" encoding="utf-8"?>
<ds:datastoreItem xmlns:ds="http://schemas.openxmlformats.org/officeDocument/2006/customXml" ds:itemID="{36989A5C-48A9-4EEC-B6B5-5EA3F9F92B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0d841a-8d5c-4365-b91a-9e058a7d7b0b"/>
    <ds:schemaRef ds:uri="0b33555f-4003-4a3d-98b3-b6089c9272f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B70503D-6BA9-4C56-AD01-1C192619C8B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B277C7-A0E8-42FA-A74E-700C19B7035E}">
  <ds:schemaRefs>
    <ds:schemaRef ds:uri="http://schemas.microsoft.com/office/2006/metadata/properties"/>
    <ds:schemaRef ds:uri="http://schemas.microsoft.com/office/infopath/2007/PartnerControls"/>
    <ds:schemaRef ds:uri="660d841a-8d5c-4365-b91a-9e058a7d7b0b"/>
    <ds:schemaRef ds:uri="0b33555f-4003-4a3d-98b3-b6089c9272f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217</TotalTime>
  <Words>933</Words>
  <Application>Microsoft Office PowerPoint</Application>
  <PresentationFormat>Widescreen</PresentationFormat>
  <Paragraphs>201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Tw Cen MT</vt:lpstr>
      <vt:lpstr>Circuito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Filippo Riommi</dc:creator>
  <cp:lastModifiedBy>Filippo Riommi</cp:lastModifiedBy>
  <cp:revision>12</cp:revision>
  <dcterms:created xsi:type="dcterms:W3CDTF">2025-09-07T11:30:24Z</dcterms:created>
  <dcterms:modified xsi:type="dcterms:W3CDTF">2025-12-19T14:27:41Z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0x01010030672764054DCD4994E7B0C5E41CE02B</vt:lpwstr>
  </property>
</Properties>
</file>